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00000" y="1980000"/>
            <a:ext cx="8593200" cy="2880000"/>
          </a:xfrm>
          <a:prstGeom prst="rect">
            <a:avLst/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000" y="2520000"/>
            <a:ext cx="72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统计调查与直方图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0" y="3600000"/>
            <a:ext cx="72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 01-02 讲 复习 八年级数学 · 期末复习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DF6E3"/>
                </a:solidFill>
                <a:latin typeface="KaiTi"/>
              </a:defRPr>
            </a:pPr>
            <a:r>
              <a:rPr a:ea="KaiTi"/>
              <a:t>Claude Monet, Stacks of Wheat (End of Summer), 1890/91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🎯 复习目标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21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① 能说出统计调查的一般步骤，区分 普查 与 抽样调查 的适用场景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268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② 能正确判断 总体 、 个体 、 样本 和 样本容量 ，用 样本 估算 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273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③ 能根据数据绘制 频数 分布直方图，从统计图中读取信息并计算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📖 普查与抽样 · 数据描述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50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1800000"/>
          <a:ext cx="93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对象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全体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部分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优点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准确、全面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省时省力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适用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范围小、无破坏性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范围广、有破坏性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60000" y="356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简单随机抽样 ：机会相等， 样本 要有 代表性 和 广泛性 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0" y="4032000"/>
          <a:ext cx="9360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统计图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优势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不足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条形图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显示每组具体数据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看不出变化和 占比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折线图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反映数据变化趋势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看不出 占比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扇形图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显示各部分 占比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看不出每项数目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60000" y="626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扇形图圆心角 = 360° × 百分比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3 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📖 总体·样本 · 频数直方图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540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总体 ：全体对象； 个体 ：每一个； 样本 ：抽取的集合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268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样本容量 ： 样本 中 个体 数目 （纯数字，无单位）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273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估算 ： 总体 数量 ≈ 总体 总数 ×（ 样本 比例）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3204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极差 = 最大值 − 最小值； 组数 ≈ 极差 ÷ 组距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3672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频数 ：每 组数 据个数； 频率 = 频数 ÷ 数据总数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4140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画直方图 ：算 极差 → 定 组距 → 列 频数 表 → 画图（无间隙）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4 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💡 统计图选用小结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1800000"/>
          <a:ext cx="936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0"/>
                <a:gridCol w="468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需求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选用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比较各组具体数量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条形统计图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看变化趋势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折线统计图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看各部分 占比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扇形统计图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看数据分布规律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频数 分布直方图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60000" y="45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核心方法 ：从图中读数据 → 算比例 → 用 样本 估计 总体 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5 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例题1 调查步骤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实施"双减"政策后，为了解我县初中生每天完成家庭作业所花时间及质量情况，根据以下四个步骤完成调查：①收集数据；②分析数据；③制作并发放调查问卷；④得出结论，提出建议和整改意见．你认为这四个步骤合理的先后排序为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A．①②③④　B．①③②④　C．③①②④　D．②③④①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请一位同学给出答案并说明理由。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6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例题1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统计调查的一般步骤 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制作并发放调查问卷 → 收集数据 → 分析数据 → 得出结论、提出建议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273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③ → ① → ② → 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7 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例题2-3 调查方法与普查抽样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648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例2 万州区教师进修学院调查某校学生每日睡眠时长问题，选用下列哪种方法最恰当（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A．查阅文献资料　B．对学生问卷调查　C．上网查询　D．对校领导问卷调查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例3 下列调查中，适宜采用 普查 方式的是（ 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A．了解神舟飞船的设备零部件的质量情况　B．了解一批灯泡的使用寿命　C．了解江苏省中学生观看电影《第二十条》的情况　D．了解无锡市中小学生的课外阅读时间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请一位同学回答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8 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例题2-3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例2 答案：B — 调查对象是学生，应直接向学生收集数据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0000" y="2268000"/>
          <a:ext cx="936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选项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方式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理由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A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普查 ✓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安全关键，必须逐一检查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B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抽样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破坏性试验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C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抽样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涉及范围太广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D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抽样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涉及范围太广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9 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例题4 概念辨析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为了解我校八年级600名学生期中数学考试成绩，从中抽取了100名学生的数学成绩进行统计．下列判断正确的是（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A．被抽取的100名学生的数学成绩是 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B． 样本容量 是600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C．被抽取的100名学生是 总体 的一个 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D． 样本容量 是100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414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关键 ： 总体 / 样本 / 样本容量 分别指什么？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460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请一位同学回答。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10 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例题4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总体 ：八年级600名学生的数学 成绩 （不是学生）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268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个体 ：每名学生的数学 成绩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273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样本 ：被抽取的100名学生的数学 成绩 （不是100名学生）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3204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样本容量 ： 100 （纯数字，不带单位）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11 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例题5 样本估算总体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468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某厂生产了1000只灯泡．为了解这1000只灯泡的使用寿命，从中随机抽取了50只灯泡进行检测，结果有28只灯泡的使用寿命超过了2500小时，那么估计这1000只灯泡中使用寿命超过2500小时的灯泡的数量为 ______ 只．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请一位同学回答并展示计算过程。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12 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例题5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样本 中超过2500小时的比例：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28/50 = 0.56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估计 总体 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1000 × 0.56 = 560（只）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公式 ： 总体 中数量 ≈ 总体 总数 ×（ 样本 比例）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13 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例题6 频数与频率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432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在一次数学测试中，将某班40名学生的成绩分为5组，第一组到第四组的 频率 之和为0.8，则第5组的 频数 是（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A．7　B．8　C．9　D．10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14 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例题6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第5组的 频率 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1 - 0.8 = 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第5组的 频数 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40 × 0.2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15 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例题7 频数分布表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432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某校为了解九年级1000名学生一分钟跳绳的情况，随机抽取50名学生进行测试，数据整理如下：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0000" y="2268000"/>
          <a:ext cx="93600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000"/>
                <a:gridCol w="1560000"/>
                <a:gridCol w="1560000"/>
                <a:gridCol w="1560000"/>
                <a:gridCol w="1560000"/>
                <a:gridCol w="156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个数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115~135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135~155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155~175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175~195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≥195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人数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5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13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24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6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60000" y="356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估计九年级1000名学生中跳绳个数不低于175个的人数为 ______ 人．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497" y="4032000"/>
            <a:ext cx="5637125" cy="36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0000" y="781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16 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例题7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样本 中不低于175个的人数：24 + 6 =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样本 比例：30/50 = 0.6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估计 总体 ：1000 × 0.6 = 600（人）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17 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例题8 频数直方图应用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50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兰州市现行居民用水量划分为三级，水价分级递增．某小区随机 抽样调查 了50户家庭的年用水量，并绘制了 频数 分布直方图．若该小区共有1000户居民，估计年用水量达到第三级标准（超出180m³）的户数为（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A．30　B．45　C．60　D．90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166" y="2736000"/>
            <a:ext cx="5673786" cy="3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0000" y="651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请一位同学回答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18 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例题8 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从直方图得出： 样本 中第三级（x &gt; 180）有 3 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比例：3/50 = 0.06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估计 总体 ：1000 × 0.06 = 60（户）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19 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例题9 统计图综合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432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某校有学生3000人，准备开展学校社团活动，组建摄影社、国学社、篮球社、科技制作社四个社团．随机抽取了50名学生做问卷调查，得到了如图所示的两个不完整的统计图．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2268000"/>
            <a:ext cx="4118009" cy="28800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268000"/>
            <a:ext cx="2880000" cy="28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0000" y="550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（1）本次 抽样调查 的 样本容量 是 ______；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597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（2）国学（B）上的具体数据是 ______；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644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（3）科技制作社团（D）所在扇形的圆心角度数是 ______；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691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（4）估计全校有多少学生报名参加篮球社团活动．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738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请在练习本上完成（限时 5 分钟）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20 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✏️ 例题9 参考答案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（1） 50 （ 样本容量 = 抽取人数）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（2） 10 人 （国学占20%，50 × 20% = 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（3） 100.8°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科技制作 占比 ：1 - 24% - 20% - 28% = 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圆心角：360° × 28% = 100.8°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414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（4） 840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460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3000 × 28% = 840（人）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21 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📝 当堂练习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21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请在练习本上完成（限时 8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第10题 ：为调查九年级1200学生体重，将步骤排序：①收集数据；②设计调查问卷；③用 样本 估计 总体 ；④整理数据；⑤分析数据．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第11题 ：调查学生最喜欢的体育运动，在"①蛙泳，②球类，③游泳，④篮球，⑤自由泳，⑥排球"中选取四个作为问卷备选项，最合理的是（ 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A．①②③④　B．①④⑤⑥　C．②③⑤⑥　D．②③④⑤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第12题 ：下列适宜 普查 的是（ ）A．调查市场上蔬菜保鲜情况　B．调查乘坐高铁旅客是否携带违禁物品　C．调查某品牌电池使用寿命　D．调查某地区初中生一天完成作业所用时间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22 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📝 当堂练习（续）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24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✏️ 请在练习本上完成（限时 8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第13题 ：下列适合 抽样调查 的是（ ）A．了解全班中学生每周使用手机的时间　B．对乘坐高铁的乘客进行安全检查　C．调查我校初三某班的视力情况　D．环保部门调查任河全域水质情况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第14题 ：为了解某校初二年级900名学生每天花费在数学学习上的时间，抽取了100名学生进行调查，以下说法正确的是（ ）A． 样本容量 是100　B．每名学生是 个体 C．抽取的100名学生是 样本 D．初二年级900名学生是 总体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第15题 ： 抽查 20名学生每分钟跳绳次数：65，74，83，87，88，89，91，93，100，102，108，111，117，121，130，133，146，158，177，188．则跳绳次数在90～110这一组的 频率 是 ______．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23 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📝 当堂练习 参考答案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第10题 ：②①④⑤③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26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第11题 ：D（选项应互不包含且具 代表性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736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第12题 ：B（高铁安检须全面检查）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第13题 ：D（全域水质涉及范围广）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第14题 ：A（ 个体 是每名学生每天花在数学上的 时间 ， 样本 是100名学生的时间数据， 总体 是900名学生的时间数据）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414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第15题 ：0.25（90～110有 91,93,100,102,108 共5个，5÷20=0.25）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24 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📝 课后作业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21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800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必做 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268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讲义第16-20题（选择题，巩固 普查 /抽样/概念辨析）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273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讲义第21-24题（ 频数 、 频率 、 组数 计算）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04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选作 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3672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讲义第22题（ 频数 直方图估算）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4140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讲义第25题（直方图综合应用，含图片）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4608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挑战 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5076000"/>
            <a:ext cx="91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• 讲义第9题全部四问独立完成，写出完整推理过程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25 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💡 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21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1800000"/>
          <a:ext cx="9360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0"/>
                <a:gridCol w="468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层次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问题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基础层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普查 和 抽样调查 各适用于什么场景？请各举一例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中间层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"从600名学生中抽100名调查， 样本容量 是100名"这句话对吗？为什么？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拓展层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给了 频数 直方图，如何用 样本 估计 总体 ？请说出完整步骤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60000" y="4032000"/>
            <a:ext cx="97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2E"/>
                </a:solidFill>
                <a:latin typeface="KaiTi"/>
              </a:defRPr>
            </a:pPr>
            <a:r>
              <a:rPr a:ea="KaiTi"/>
              <a:t>请一位对应层级同学回答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26 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648000"/>
            <a:ext cx="100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A1A2E"/>
                </a:solidFill>
                <a:latin typeface="KaiTi"/>
              </a:defRPr>
            </a:pPr>
            <a:r>
              <a:rPr a:ea="KaiTi"/>
              <a:t>💡 课堂小结 参考答案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000" y="1422000"/>
            <a:ext cx="3960000" cy="43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1800000"/>
          <a:ext cx="9360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0"/>
                <a:gridCol w="468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层次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KaiTi"/>
                        </a:defRPr>
                      </a:pPr>
                      <a:r>
                        <a:t>要点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基础层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普查 ：范围小、无破坏性、要精确（如全班身高）；抽样：范围广、有破坏性（如灯泡寿命）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中间层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不对。 样本容量 是 纯数字100 ，不带单位"名"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拓展层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KaiTi"/>
                        </a:defRPr>
                      </a:pPr>
                      <a:r>
                        <a:t>从直方图读目标组 频数 → 除以 样本容量 得比例 → 乘以 总体 总数得估算值</a:t>
                      </a:r>
                    </a:p>
                  </a:txBody>
                  <a:tcPr>
                    <a:lnL w="12700">
                      <a:solidFill>
                        <a:srgbClr val="1A1A2E"/>
                      </a:solidFill>
                    </a:lnL>
                    <a:lnR w="12700">
                      <a:solidFill>
                        <a:srgbClr val="1A1A2E"/>
                      </a:solidFill>
                    </a:lnR>
                    <a:lnT w="12700">
                      <a:solidFill>
                        <a:srgbClr val="1A1A2E"/>
                      </a:solidFill>
                    </a:lnT>
                    <a:lnB w="12700">
                      <a:solidFill>
                        <a:srgbClr val="1A1A2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300000"/>
            <a:ext cx="11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A080"/>
                </a:solidFill>
                <a:latin typeface="KaiTi"/>
              </a:defRPr>
            </a:pPr>
            <a:r>
              <a:rPr a:ea="KaiTi"/>
              <a:t>— 27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